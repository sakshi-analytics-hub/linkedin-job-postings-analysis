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17C41-B559-41DC-A165-3C5A9A5EBC28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CB33C-63A4-4595-BC20-CA96096ED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712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CB33C-63A4-4595-BC20-CA96096ED6A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89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95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80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02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47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26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15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04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3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0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3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968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8242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9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759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7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815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5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84B05E2-F811-43C3-9A01-A269DA17FABA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5DB3261-1FFC-4EFF-9D06-74B9CFDDC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408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sociologiadivertida.blogspot.com/2013/01/andamos-muy-enredados-ii_26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5BC8E5"/>
            </a:gs>
            <a:gs pos="95000">
              <a:srgbClr val="4AB2D4"/>
            </a:gs>
            <a:gs pos="3000">
              <a:schemeClr val="bg2">
                <a:tint val="97000"/>
                <a:hueMod val="92000"/>
                <a:satMod val="169000"/>
                <a:lumMod val="164000"/>
              </a:schemeClr>
            </a:gs>
            <a:gs pos="64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7DEE-7EB2-9F23-21DB-CA5139886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812" y="272142"/>
            <a:ext cx="8001000" cy="2971801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ubheading Semibold" pitchFamily="2" charset="0"/>
                <a:cs typeface="Times New Roman" panose="02020603050405020304" pitchFamily="18" charset="0"/>
              </a:rPr>
              <a:t>LinkedIn Job Market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C0AED-DA23-C04E-6C74-6279A90B2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4495800"/>
            <a:ext cx="6400800" cy="1295400"/>
          </a:xfrm>
        </p:spPr>
        <p:txBody>
          <a:bodyPr/>
          <a:lstStyle/>
          <a:p>
            <a:r>
              <a:rPr lang="en-IN" b="1" i="1" dirty="0">
                <a:solidFill>
                  <a:schemeClr val="tx1"/>
                </a:solidFill>
              </a:rPr>
              <a:t>PRESENTED BY:  </a:t>
            </a:r>
          </a:p>
          <a:p>
            <a:r>
              <a:rPr lang="en-IN" dirty="0"/>
              <a:t>         </a:t>
            </a:r>
            <a:r>
              <a:rPr lang="en-IN" b="1" dirty="0">
                <a:solidFill>
                  <a:schemeClr val="tx1"/>
                </a:solidFill>
              </a:rPr>
              <a:t>SAKSHI RUNGHE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C70BE-9674-88EA-9C95-E651A1D6D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90314" y="4804527"/>
            <a:ext cx="1817915" cy="1820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E5034-23F2-D86C-CD13-F96F389944D4}"/>
              </a:ext>
            </a:extLst>
          </p:cNvPr>
          <p:cNvSpPr txBox="1"/>
          <p:nvPr/>
        </p:nvSpPr>
        <p:spPr>
          <a:xfrm>
            <a:off x="8980714" y="7048326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sociologiadivertida.blogspot.com/2013/01/andamos-muy-enredados-ii_26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58505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DC5B85-854C-2B27-EB0B-830D26B292D3}"/>
              </a:ext>
            </a:extLst>
          </p:cNvPr>
          <p:cNvSpPr/>
          <p:nvPr/>
        </p:nvSpPr>
        <p:spPr>
          <a:xfrm>
            <a:off x="500744" y="391886"/>
            <a:ext cx="4414157" cy="1349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A156B-B390-9FA6-9222-ACBA87B8F420}"/>
              </a:ext>
            </a:extLst>
          </p:cNvPr>
          <p:cNvSpPr txBox="1"/>
          <p:nvPr/>
        </p:nvSpPr>
        <p:spPr>
          <a:xfrm>
            <a:off x="930729" y="462876"/>
            <a:ext cx="3641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50B93-2D86-270F-A73E-1F470A91FF3B}"/>
              </a:ext>
            </a:extLst>
          </p:cNvPr>
          <p:cNvSpPr/>
          <p:nvPr/>
        </p:nvSpPr>
        <p:spPr>
          <a:xfrm>
            <a:off x="2699657" y="1970314"/>
            <a:ext cx="8001000" cy="4800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0C365-5E41-26F4-067B-760FC9E61381}"/>
              </a:ext>
            </a:extLst>
          </p:cNvPr>
          <p:cNvSpPr txBox="1"/>
          <p:nvPr/>
        </p:nvSpPr>
        <p:spPr>
          <a:xfrm>
            <a:off x="2841171" y="2177143"/>
            <a:ext cx="76417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is based on LinkedIn job market data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trends in different cities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identifies top hiring locations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shows the most demanded technical skills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 is used for better understanding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helps understand current job opportunities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59796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F81A6A-2DDD-A33E-E10A-2F93F41B66B2}"/>
              </a:ext>
            </a:extLst>
          </p:cNvPr>
          <p:cNvSpPr/>
          <p:nvPr/>
        </p:nvSpPr>
        <p:spPr>
          <a:xfrm>
            <a:off x="533400" y="370114"/>
            <a:ext cx="4136571" cy="1200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14860-C798-88D7-8810-D370AFE28618}"/>
              </a:ext>
            </a:extLst>
          </p:cNvPr>
          <p:cNvSpPr txBox="1"/>
          <p:nvPr/>
        </p:nvSpPr>
        <p:spPr>
          <a:xfrm>
            <a:off x="620486" y="555172"/>
            <a:ext cx="3712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DATASET </a:t>
            </a:r>
            <a:r>
              <a:rPr lang="en-IN" sz="3200" dirty="0">
                <a:latin typeface="Arial Rounded MT Bold" panose="020F0704030504030204" pitchFamily="34" charset="0"/>
              </a:rPr>
              <a:t>DESCRIPTION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F9E4F0-4E53-F340-E6F1-D91A2A20AAC2}"/>
              </a:ext>
            </a:extLst>
          </p:cNvPr>
          <p:cNvSpPr/>
          <p:nvPr/>
        </p:nvSpPr>
        <p:spPr>
          <a:xfrm>
            <a:off x="2057401" y="1755893"/>
            <a:ext cx="8969828" cy="473199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2910F-6F66-88BA-AF4E-AA59DE6A9CE0}"/>
              </a:ext>
            </a:extLst>
          </p:cNvPr>
          <p:cNvSpPr txBox="1"/>
          <p:nvPr/>
        </p:nvSpPr>
        <p:spPr>
          <a:xfrm>
            <a:off x="2351314" y="2024743"/>
            <a:ext cx="8196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collected from Kaggle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Contains LinkedIn job market data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Job Titles and Company Names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Includes Job Locations and Required         Skills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hiring trend analysis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identify top hiring cities and skills</a:t>
            </a:r>
          </a:p>
        </p:txBody>
      </p:sp>
    </p:spTree>
    <p:extLst>
      <p:ext uri="{BB962C8B-B14F-4D97-AF65-F5344CB8AC3E}">
        <p14:creationId xmlns:p14="http://schemas.microsoft.com/office/powerpoint/2010/main" val="25935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508D50-0951-61DF-EE27-C0157C71598C}"/>
              </a:ext>
            </a:extLst>
          </p:cNvPr>
          <p:cNvSpPr/>
          <p:nvPr/>
        </p:nvSpPr>
        <p:spPr>
          <a:xfrm>
            <a:off x="217714" y="239487"/>
            <a:ext cx="4648200" cy="1132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80C3D-916E-0915-A3D1-7CE6C71FE502}"/>
              </a:ext>
            </a:extLst>
          </p:cNvPr>
          <p:cNvSpPr txBox="1"/>
          <p:nvPr/>
        </p:nvSpPr>
        <p:spPr>
          <a:xfrm>
            <a:off x="326571" y="417494"/>
            <a:ext cx="4082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TOOLS &amp; TECHNOLOGIES</a:t>
            </a: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624CEA49-6D76-663F-3F63-FE97DBD90E4F}"/>
              </a:ext>
            </a:extLst>
          </p:cNvPr>
          <p:cNvSpPr/>
          <p:nvPr/>
        </p:nvSpPr>
        <p:spPr>
          <a:xfrm>
            <a:off x="2286000" y="1730829"/>
            <a:ext cx="8567057" cy="4321628"/>
          </a:xfrm>
          <a:prstGeom prst="round1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89391-D68E-CB2B-3C9F-EBCE070374C3}"/>
              </a:ext>
            </a:extLst>
          </p:cNvPr>
          <p:cNvSpPr txBox="1"/>
          <p:nvPr/>
        </p:nvSpPr>
        <p:spPr>
          <a:xfrm>
            <a:off x="2688771" y="2100943"/>
            <a:ext cx="8284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 used for data analysis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used for data visualization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EDA used for data understanding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Kaggle used as dataset source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project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26496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066756-9439-9FF0-6371-4F1AA7FEE6EE}"/>
              </a:ext>
            </a:extLst>
          </p:cNvPr>
          <p:cNvSpPr/>
          <p:nvPr/>
        </p:nvSpPr>
        <p:spPr>
          <a:xfrm>
            <a:off x="345440" y="518159"/>
            <a:ext cx="2804160" cy="13004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60EED-7269-46E1-92D2-8F025CC18DB9}"/>
              </a:ext>
            </a:extLst>
          </p:cNvPr>
          <p:cNvSpPr txBox="1"/>
          <p:nvPr/>
        </p:nvSpPr>
        <p:spPr>
          <a:xfrm>
            <a:off x="513080" y="727949"/>
            <a:ext cx="3550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GRAPHS &amp;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C379B-B43A-8C17-1E1A-F1FA97343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2190056"/>
            <a:ext cx="6553200" cy="4500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4F0C8E-4A87-99CE-D671-AEBA5354FD6A}"/>
              </a:ext>
            </a:extLst>
          </p:cNvPr>
          <p:cNvSpPr txBox="1"/>
          <p:nvPr/>
        </p:nvSpPr>
        <p:spPr>
          <a:xfrm>
            <a:off x="7151913" y="1993311"/>
            <a:ext cx="42998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Top Hiring Locations</a:t>
            </a: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cities with the highest number of job postings.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Bangalore, Hyderabad, and Pune lead in hiring.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opportunities are concentrated in tech hubs. 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should focus on these cities for better career opportunities</a:t>
            </a:r>
            <a:r>
              <a:rPr lang="en-IN" sz="20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98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0D7889-D619-1DC9-5A8C-4E6922EA1B36}"/>
              </a:ext>
            </a:extLst>
          </p:cNvPr>
          <p:cNvSpPr txBox="1"/>
          <p:nvPr/>
        </p:nvSpPr>
        <p:spPr>
          <a:xfrm>
            <a:off x="8055429" y="783771"/>
            <a:ext cx="394062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Demanded Skills</a:t>
            </a: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most required skills in job postings.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and UI are highly demanded.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skills are important in today's job market. 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these skills can increase job opportunities.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E9EFB-469D-DA74-B7E3-AD5B0389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566058"/>
            <a:ext cx="7293428" cy="561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7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C9DF3-B26B-A15F-6166-EC313FB94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7" y="617218"/>
            <a:ext cx="6638982" cy="53553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D725FF-F1E6-1A73-763A-D156A7B3F5F0}"/>
              </a:ext>
            </a:extLst>
          </p:cNvPr>
          <p:cNvSpPr txBox="1"/>
          <p:nvPr/>
        </p:nvSpPr>
        <p:spPr>
          <a:xfrm>
            <a:off x="7151914" y="617217"/>
            <a:ext cx="4802939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Level Distribution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distribution of jobs across different levels</a:t>
            </a:r>
          </a:p>
          <a:p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of jobs are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Full-time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few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roles → indicates companies prefer long-term hiring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job openings are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Full-time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demand for stable roles.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few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jobs indicate limited short-term hiring.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A7FA84BD-83B1-92C2-13F9-9ADCBC417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41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3A75C-881B-C852-6061-1BC2BEFB5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7" y="242443"/>
            <a:ext cx="5801535" cy="637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EB1E0E-AA2A-21FD-C7C6-31A096D24DD8}"/>
              </a:ext>
            </a:extLst>
          </p:cNvPr>
          <p:cNvSpPr txBox="1"/>
          <p:nvPr/>
        </p:nvSpPr>
        <p:spPr>
          <a:xfrm>
            <a:off x="6531430" y="460158"/>
            <a:ext cx="55626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Hiring Locations</a:t>
            </a: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</a:t>
            </a:r>
          </a:p>
          <a:p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top locations with highest job opportunities </a:t>
            </a:r>
          </a:p>
          <a:p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Maharashtra, Telangana, and Karnataka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the most hiring</a:t>
            </a:r>
          </a:p>
          <a:p>
            <a:endParaRPr lang="en-I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jobs are in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Maharashtra, Telangana, and Karnataka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locations offer better career opportunities due to higher hiring demand.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14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698D46-5964-E39A-8530-2D1A375AA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80" y="287583"/>
            <a:ext cx="6987949" cy="6015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CF393A-7C0D-1D6B-B5E1-0CD55E40F223}"/>
              </a:ext>
            </a:extLst>
          </p:cNvPr>
          <p:cNvSpPr txBox="1"/>
          <p:nvPr/>
        </p:nvSpPr>
        <p:spPr>
          <a:xfrm>
            <a:off x="7783286" y="402771"/>
            <a:ext cx="4223657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Correlation Analysis</a:t>
            </a: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</a:t>
            </a: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shows how often different technical skills are grouped together in job postings.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Stronger colour mean those skills are highly connected and frequently requested as a "package deal.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get hired, candidates must master interconnected "tech stacks" rather than learning tools in isolation.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1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1A9EAC-7E8B-1484-D46C-D3118A2DE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53" y="250371"/>
            <a:ext cx="6656441" cy="55517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6D1D7D-7522-96C6-9948-072EFC49737F}"/>
              </a:ext>
            </a:extLst>
          </p:cNvPr>
          <p:cNvSpPr txBox="1"/>
          <p:nvPr/>
        </p:nvSpPr>
        <p:spPr>
          <a:xfrm>
            <a:off x="7335033" y="152399"/>
            <a:ext cx="433251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Applicants per Company </a:t>
            </a:r>
          </a:p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Tier: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Genpact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 the group significantly, both averaging well over 80 applicants.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Tier: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bottom half of the companies see average applicant numbers in the 20s and 30s, with </a:t>
            </a:r>
            <a:r>
              <a:rPr lang="en-US" alt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LTIMindtree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having the lowest average at under 10 applicants.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Talent demand is highly concentrated among a few top brands.</a:t>
            </a:r>
            <a:b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firms face a clear visibility and attraction gap.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61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BC086D7-359E-DE5E-975D-23206936A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71" y="-204705"/>
            <a:ext cx="10526486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jobs are full-time: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IT services and consulting companies are doing the most hiring.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locations: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The best places to find tech jobs are Maharashtra, Karnataka, and Telangana.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UI are must-haves: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Over 80% of job postings ask for Artificial Intelligence and UI Design skills.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your skills: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Employers want a combination of tools (like knowing Python along with SQL or Excel), not  just one single skill.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competition: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Big companies (like TCS and Wipro) post the most jobs, but they get a lot of applicants—about 23 per job.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 out with special skills: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Knowing advanced topics like Machine Learning or AI is the best way to beat the competition and get hired.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9A7476-30DD-9472-1C37-5A2E07AFC4D6}"/>
              </a:ext>
            </a:extLst>
          </p:cNvPr>
          <p:cNvSpPr/>
          <p:nvPr/>
        </p:nvSpPr>
        <p:spPr>
          <a:xfrm>
            <a:off x="359229" y="184519"/>
            <a:ext cx="2775857" cy="947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04F62-D204-378B-7D21-19CAA3E13E5C}"/>
              </a:ext>
            </a:extLst>
          </p:cNvPr>
          <p:cNvSpPr txBox="1"/>
          <p:nvPr/>
        </p:nvSpPr>
        <p:spPr>
          <a:xfrm>
            <a:off x="538843" y="381664"/>
            <a:ext cx="2677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Rounded MT Bold" panose="020F0704030504030204" pitchFamily="34" charset="0"/>
              </a:rPr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319536931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275</TotalTime>
  <Words>652</Words>
  <Application>Microsoft Office PowerPoint</Application>
  <PresentationFormat>Widescreen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Rounded MT Bold</vt:lpstr>
      <vt:lpstr>Calibri</vt:lpstr>
      <vt:lpstr>Century Gothic</vt:lpstr>
      <vt:lpstr>Sitka Subheading Semibold</vt:lpstr>
      <vt:lpstr>Times New Roman</vt:lpstr>
      <vt:lpstr>Wingdings 3</vt:lpstr>
      <vt:lpstr>Slice</vt:lpstr>
      <vt:lpstr>LinkedIn Job Market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Runghe</dc:creator>
  <cp:lastModifiedBy>Sakshi Runghe</cp:lastModifiedBy>
  <cp:revision>4</cp:revision>
  <dcterms:created xsi:type="dcterms:W3CDTF">2026-05-29T09:45:19Z</dcterms:created>
  <dcterms:modified xsi:type="dcterms:W3CDTF">2026-06-06T07:48:08Z</dcterms:modified>
</cp:coreProperties>
</file>